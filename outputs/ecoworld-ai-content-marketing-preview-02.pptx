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73837e879b429d" /><Relationship Type="http://schemas.openxmlformats.org/officeDocument/2006/relationships/extended-properties" Target="/docProps/app.xml" Id="Rd9019fef8c114961" /><Relationship Type="http://schemas.openxmlformats.org/officeDocument/2006/relationships/officeDocument" Target="/ppt/presentation.xml" Id="R229636b9428643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44f22016014068"/>
  </p:sldMasterIdLst>
  <p:notesMasterIdLst>
    <p:notesMasterId xmlns:r="http://schemas.openxmlformats.org/officeDocument/2006/relationships" r:id="Rebb4a494875d426d"/>
  </p:notesMasterIdLst>
  <p:sldIdLst>
    <p:sldId xmlns:r="http://schemas.openxmlformats.org/officeDocument/2006/relationships" id="256" r:id="Rd6a7185cc94b47bf"/>
    <p:sldId xmlns:r="http://schemas.openxmlformats.org/officeDocument/2006/relationships" id="257" r:id="R0aa974b6767448eb"/>
    <p:sldId xmlns:r="http://schemas.openxmlformats.org/officeDocument/2006/relationships" id="258" r:id="Rae691d4599a44c1c"/>
    <p:sldId xmlns:r="http://schemas.openxmlformats.org/officeDocument/2006/relationships" id="259" r:id="R72cb3755b3fa4815"/>
    <p:sldId xmlns:r="http://schemas.openxmlformats.org/officeDocument/2006/relationships" id="260" r:id="R2ea3e4fd8d4b40f7"/>
    <p:sldId xmlns:r="http://schemas.openxmlformats.org/officeDocument/2006/relationships" id="261" r:id="R57704c3ce0ed473a"/>
    <p:sldId xmlns:r="http://schemas.openxmlformats.org/officeDocument/2006/relationships" id="262" r:id="R8638c8e306f741db"/>
    <p:sldId xmlns:r="http://schemas.openxmlformats.org/officeDocument/2006/relationships" id="263" r:id="R7c1e813ee2034c07"/>
    <p:sldId xmlns:r="http://schemas.openxmlformats.org/officeDocument/2006/relationships" id="264" r:id="R19c2ea10f56a45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309b13eb5040c4" /><Relationship Type="http://schemas.openxmlformats.org/officeDocument/2006/relationships/slideMaster" Target="/ppt/slideMasters/slideMaster1.xml" Id="Rc044f22016014068" /><Relationship Type="http://schemas.openxmlformats.org/officeDocument/2006/relationships/notesMaster" Target="/ppt/notesMasters/notesMaster1.xml" Id="Rebb4a494875d426d" /><Relationship Type="http://schemas.openxmlformats.org/officeDocument/2006/relationships/presProps" Target="/ppt/presProps.xml" Id="Redbc2545f3284e11" /><Relationship Type="http://schemas.openxmlformats.org/officeDocument/2006/relationships/tableStyles" Target="/ppt/tableStyles.xml" Id="R8cf61685243144f3" /><Relationship Type="http://schemas.openxmlformats.org/officeDocument/2006/relationships/slide" Target="/ppt/slides/slide1.xml" Id="Rd6a7185cc94b47bf" /><Relationship Type="http://schemas.openxmlformats.org/officeDocument/2006/relationships/slide" Target="/ppt/slides/slide2.xml" Id="R0aa974b6767448eb" /><Relationship Type="http://schemas.openxmlformats.org/officeDocument/2006/relationships/slide" Target="/ppt/slides/slide3.xml" Id="Rae691d4599a44c1c" /><Relationship Type="http://schemas.openxmlformats.org/officeDocument/2006/relationships/slide" Target="/ppt/slides/slide4.xml" Id="R72cb3755b3fa4815" /><Relationship Type="http://schemas.openxmlformats.org/officeDocument/2006/relationships/slide" Target="/ppt/slides/slide5.xml" Id="R2ea3e4fd8d4b40f7" /><Relationship Type="http://schemas.openxmlformats.org/officeDocument/2006/relationships/slide" Target="/ppt/slides/slide6.xml" Id="R57704c3ce0ed473a" /><Relationship Type="http://schemas.openxmlformats.org/officeDocument/2006/relationships/slide" Target="/ppt/slides/slide7.xml" Id="R8638c8e306f741db" /><Relationship Type="http://schemas.openxmlformats.org/officeDocument/2006/relationships/slide" Target="/ppt/slides/slide8.xml" Id="R7c1e813ee2034c07" /><Relationship Type="http://schemas.openxmlformats.org/officeDocument/2006/relationships/slide" Target="/ppt/slides/slide9.xml" Id="R19c2ea10f56a45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9d3007371149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0" dist="98066" dir="3656724">
              <a:srgbClr val="2A211C">
                <a:alpha val="18000"/>
              </a:srgbClr>
            </a:outerShdw>
          </a:effectLst>
        </a:effectStyle>
        <a:effectStyle>
          <a:effectLst>
            <a:outerShdw blurRad="114300" dist="63896" dir="3806097">
              <a:srgbClr val="2A211C">
                <a:alpha val="12000"/>
              </a:srgbClr>
            </a:outerShdw>
          </a:effectLst>
        </a:effectStyle>
        <a:effectStyle>
          <a:effectLst>
            <a:outerShdw blurRad="171450" dist="72540" dir="4008085">
              <a:srgbClr val="2A211C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25982c55c64c21" /><Relationship Type="http://schemas.openxmlformats.org/officeDocument/2006/relationships/notesMaster" Target="/ppt/notesMasters/notesMaster1.xml" Id="R679c87d95fde4a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6c63c9d9f14111" /><Relationship Type="http://schemas.openxmlformats.org/officeDocument/2006/relationships/notesMaster" Target="/ppt/notesMasters/notesMaster1.xml" Id="R9e836dcee5e34c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17252f66864a75" /><Relationship Type="http://schemas.openxmlformats.org/officeDocument/2006/relationships/notesMaster" Target="/ppt/notesMasters/notesMaster1.xml" Id="Ra49c124ce65d49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729fbb742d4a6a" /><Relationship Type="http://schemas.openxmlformats.org/officeDocument/2006/relationships/notesMaster" Target="/ppt/notesMasters/notesMaster1.xml" Id="R2e216141728f4b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4a9ee66bf24d17" /><Relationship Type="http://schemas.openxmlformats.org/officeDocument/2006/relationships/notesMaster" Target="/ppt/notesMasters/notesMaster1.xml" Id="R764de2d912134a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ad7854eb904572" /><Relationship Type="http://schemas.openxmlformats.org/officeDocument/2006/relationships/notesMaster" Target="/ppt/notesMasters/notesMaster1.xml" Id="Re536285d94394a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cbfd77e0f04c1e" /><Relationship Type="http://schemas.openxmlformats.org/officeDocument/2006/relationships/notesMaster" Target="/ppt/notesMasters/notesMaster1.xml" Id="R9d57a89546d947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af6cc9846f4f69" /><Relationship Type="http://schemas.openxmlformats.org/officeDocument/2006/relationships/notesMaster" Target="/ppt/notesMasters/notesMaster1.xml" Id="R96428e1fd6d04e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71b57e426d466e" /><Relationship Type="http://schemas.openxmlformats.org/officeDocument/2006/relationships/notesMaster" Target="/ppt/notesMasters/notesMaster1.xml" Id="R7dcdd9e0ff1549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c6de9eef84c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ac9100a9744a6e" /><Relationship Type="http://schemas.openxmlformats.org/officeDocument/2006/relationships/slideLayout" Target="/ppt/slideLayouts/slideLayout1.xml" Id="R08b7ce38763647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b7ce38763647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0" dist="98066" dir="3656724">
              <a:srgbClr val="2A211C">
                <a:alpha val="18000"/>
              </a:srgbClr>
            </a:outerShdw>
          </a:effectLst>
        </a:effectStyle>
        <a:effectStyle>
          <a:effectLst>
            <a:outerShdw blurRad="114300" dist="63896" dir="3806097">
              <a:srgbClr val="2A211C">
                <a:alpha val="12000"/>
              </a:srgbClr>
            </a:outerShdw>
          </a:effectLst>
        </a:effectStyle>
        <a:effectStyle>
          <a:effectLst>
            <a:outerShdw blurRad="171450" dist="72540" dir="4008085">
              <a:srgbClr val="2A211C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f52e512034376" /><Relationship Type="http://schemas.openxmlformats.org/officeDocument/2006/relationships/image" Target="/ppt/media/image.png" Id="R145720471f014048" /><Relationship Type="http://schemas.openxmlformats.org/officeDocument/2006/relationships/image" Target="/ppt/media/image2.png" Id="Ra259906554c943df" /><Relationship Type="http://schemas.openxmlformats.org/officeDocument/2006/relationships/image" Target="/ppt/media/image3.png" Id="R80e85f96aa69451d" /><Relationship Type="http://schemas.openxmlformats.org/officeDocument/2006/relationships/notesSlide" Target="/ppt/notesSlides/notesSlide1.xml" Id="Raae00021a06447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94de8824f4b39" /><Relationship Type="http://schemas.openxmlformats.org/officeDocument/2006/relationships/image" Target="/ppt/media/image4.png" Id="R2e40caab90434929" /><Relationship Type="http://schemas.openxmlformats.org/officeDocument/2006/relationships/image" Target="/ppt/media/image5.png" Id="R28d731b6829e4209" /><Relationship Type="http://schemas.openxmlformats.org/officeDocument/2006/relationships/image" Target="/ppt/media/image6.png" Id="R1f8ccae5945a4eac" /><Relationship Type="http://schemas.openxmlformats.org/officeDocument/2006/relationships/image" Target="/ppt/media/image7.png" Id="R0f1ced6083c541d8" /><Relationship Type="http://schemas.openxmlformats.org/officeDocument/2006/relationships/image" Target="/ppt/media/image8.png" Id="R3746229d9a454c3d" /><Relationship Type="http://schemas.openxmlformats.org/officeDocument/2006/relationships/notesSlide" Target="/ppt/notesSlides/notesSlide2.xml" Id="R7192d5ebd8d745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35cf42778440d" /><Relationship Type="http://schemas.openxmlformats.org/officeDocument/2006/relationships/image" Target="/ppt/media/image9.png" Id="R51c75236e19e43f4" /><Relationship Type="http://schemas.openxmlformats.org/officeDocument/2006/relationships/notesSlide" Target="/ppt/notesSlides/notesSlide3.xml" Id="Rdae6b0d2fcc944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2206c403e47e1" /><Relationship Type="http://schemas.openxmlformats.org/officeDocument/2006/relationships/image" Target="/ppt/media/image10.png" Id="R083772d2aa4c4cd9" /><Relationship Type="http://schemas.openxmlformats.org/officeDocument/2006/relationships/notesSlide" Target="/ppt/notesSlides/notesSlide4.xml" Id="Ra7ae8bd775f34a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9fc93021d4e94" /><Relationship Type="http://schemas.openxmlformats.org/officeDocument/2006/relationships/image" Target="/ppt/media/image11.png" Id="R86c0a25aa9b34370" /><Relationship Type="http://schemas.openxmlformats.org/officeDocument/2006/relationships/notesSlide" Target="/ppt/notesSlides/notesSlide5.xml" Id="Ref27e26036a74c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e738a755a4c19" /><Relationship Type="http://schemas.openxmlformats.org/officeDocument/2006/relationships/image" Target="/ppt/media/image12.png" Id="Ra1fa49118f8e4400" /><Relationship Type="http://schemas.openxmlformats.org/officeDocument/2006/relationships/notesSlide" Target="/ppt/notesSlides/notesSlide6.xml" Id="Rd1276ff252814f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bddebf2b14f1a" /><Relationship Type="http://schemas.openxmlformats.org/officeDocument/2006/relationships/image" Target="/ppt/media/image13.png" Id="R37f628a54b1a48f6" /><Relationship Type="http://schemas.openxmlformats.org/officeDocument/2006/relationships/notesSlide" Target="/ppt/notesSlides/notesSlide7.xml" Id="R3802f6ee2c0745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785df274e412c" /><Relationship Type="http://schemas.openxmlformats.org/officeDocument/2006/relationships/image" Target="/ppt/media/image14.png" Id="R001a16e800e64236" /><Relationship Type="http://schemas.openxmlformats.org/officeDocument/2006/relationships/notesSlide" Target="/ppt/notesSlides/notesSlide8.xml" Id="Rb272394c35b34d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747a395d54108" /><Relationship Type="http://schemas.openxmlformats.org/officeDocument/2006/relationships/image" Target="/ppt/media/image15.png" Id="R882f1a5968a44241" /><Relationship Type="http://schemas.openxmlformats.org/officeDocument/2006/relationships/notesSlide" Target="/ppt/notesSlides/notesSlide9.xml" Id="Rbfcad374ae4e43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720471f01404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3274D0E-7E6A-4891-9183-7BCDD5A5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ECOWORLD · AI IN CONTENT MARKETING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B47D87BE-A277-4FC3-9D56-9512163C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28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8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AI in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8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Content Marketing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DA1E815A-D5E4-48C0-BC38-6B601136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Build a content system that learns your brand,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your process, and your feedback.</a:t>
            </a:r>
          </a:p>
        </p:txBody>
      </p:sp>
      <p:sp>
        <p:nvSpPr>
          <p:cNvPr id="5" name="speaker-pill">
            <a:extLst xmlns:a="http://schemas.openxmlformats.org/drawingml/2006/main">
              <a:ext uri="{FF2B5EF4-FFF2-40B4-BE49-F238E27FC236}">
                <a16:creationId xmlns:a16="http://schemas.microsoft.com/office/drawing/2014/main" id="{A956D66F-8FA2-4BC8-85FF-B604A525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85762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peaker-name">
            <a:extLst xmlns:a="http://schemas.openxmlformats.org/drawingml/2006/main">
              <a:ext uri="{FF2B5EF4-FFF2-40B4-BE49-F238E27FC236}">
                <a16:creationId xmlns:a16="http://schemas.microsoft.com/office/drawing/2014/main" id="{9CB328A3-75EF-495D-B383-D18285C9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0387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Ashvin Praveen  ·  Co-founder &amp; CEO, Cleve.ai</a:t>
            </a:r>
          </a:p>
        </p:txBody>
      </p:sp>
      <p:sp>
        <p:nvSpPr>
          <p:cNvPr id="7" name="portrait-frame">
            <a:extLst xmlns:a="http://schemas.openxmlformats.org/drawingml/2006/main">
              <a:ext uri="{FF2B5EF4-FFF2-40B4-BE49-F238E27FC236}">
                <a16:creationId xmlns:a16="http://schemas.microsoft.com/office/drawing/2014/main" id="{7F18859B-DDC9-46D1-9A23-3F83159E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81050"/>
            <a:ext cx="3429000" cy="4695825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A211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9906554c943df"/>
          <a:srcRect xmlns:a="http://schemas.openxmlformats.org/drawingml/2006/main" l="14119" t="0" r="141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885825"/>
            <a:ext cx="3219450" cy="4486275"/>
          </a:xfrm>
          <a:prstGeom xmlns:a="http://schemas.openxmlformats.org/drawingml/2006/main" prst="roundRect">
            <a:avLst>
              <a:gd name="adj" fmla="val 7101"/>
            </a:avLst>
          </a:prstGeom>
        </p:spPr>
      </p:pic>
      <p:sp>
        <p:nvSpPr>
          <p:cNvPr id="9" name="avatar-frame">
            <a:extLst xmlns:a="http://schemas.openxmlformats.org/drawingml/2006/main">
              <a:ext uri="{FF2B5EF4-FFF2-40B4-BE49-F238E27FC236}">
                <a16:creationId xmlns:a16="http://schemas.microsoft.com/office/drawing/2014/main" id="{474AFC96-1507-47F5-9B50-C196C444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62500"/>
            <a:ext cx="1257300" cy="125730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85f96aa69451d"/>
          <a:stretch xmlns:a="http://schemas.openxmlformats.org/drawingml/2006/main"/>
        </p:blipFill>
        <p:spPr>
          <a:xfrm xmlns:a="http://schemas.openxmlformats.org/drawingml/2006/main">
            <a:off x="7388065" y="4867275"/>
            <a:ext cx="730570" cy="1047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8DFC2-64F6-43D7-A3AB-0FF487E4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7435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From chatbots to content engines</a:t>
            </a:r>
          </a:p>
        </p:txBody>
      </p:sp>
    </p:spTree>
    <p:extLst>
      <p:ext uri="{BB962C8B-B14F-4D97-AF65-F5344CB8AC3E}">
        <p14:creationId xmlns:p14="http://schemas.microsoft.com/office/powerpoint/2010/main" val="13031833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0caab9043492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BDC369C-F134-4165-BA86-14471906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WHY ME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E320A0-B71B-447D-A8C4-BEC959FF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I build, teach, and test these systems in the real world.</a:t>
            </a:r>
          </a:p>
        </p:txBody>
      </p:sp>
      <p:sp>
        <p:nvSpPr>
          <p:cNvPr id="4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C3A24FED-BDEA-47DB-B5C7-7F771DBE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FC3B5"/>
            </a:solidFill>
            <a:prstDash val="solid"/>
          </a:ln>
        </p:spPr>
      </p:sp>
      <p:sp>
        <p:nvSpPr>
          <p:cNvPr id="5" name="milestone-01">
            <a:extLst xmlns:a="http://schemas.openxmlformats.org/drawingml/2006/main">
              <a:ext uri="{FF2B5EF4-FFF2-40B4-BE49-F238E27FC236}">
                <a16:creationId xmlns:a16="http://schemas.microsoft.com/office/drawing/2014/main" id="{2F3BE264-AAC8-4D09-BF83-6F00AA88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2A211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731b6829e4209"/>
          <a:stretch xmlns:a="http://schemas.openxmlformats.org/drawingml/2006/main"/>
        </p:blipFill>
        <p:spPr>
          <a:xfrm xmlns:a="http://schemas.openxmlformats.org/drawingml/2006/main">
            <a:off x="1294429" y="2990850"/>
            <a:ext cx="478192" cy="685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299A4-A629-4981-8EB6-51973B05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049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BAC61-2086-4902-8CD1-E4140C87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Learn the craft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A1349-73E6-4A65-938F-D9303554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07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Tech + media,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building in public</a:t>
            </a:r>
          </a:p>
        </p:txBody>
      </p:sp>
      <p:sp>
        <p:nvSpPr>
          <p:cNvPr id="10" name="milestone-02">
            <a:extLst xmlns:a="http://schemas.openxmlformats.org/drawingml/2006/main">
              <a:ext uri="{FF2B5EF4-FFF2-40B4-BE49-F238E27FC236}">
                <a16:creationId xmlns:a16="http://schemas.microsoft.com/office/drawing/2014/main" id="{3107779B-DDE9-41F1-A851-1120CE0F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90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2A211C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ccae5945a4eac"/>
          <a:stretch xmlns:a="http://schemas.openxmlformats.org/drawingml/2006/main"/>
        </p:blipFill>
        <p:spPr>
          <a:xfrm xmlns:a="http://schemas.openxmlformats.org/drawingml/2006/main">
            <a:off x="3952875" y="30575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A7DE7-F694-4B99-83A8-D998BCAF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57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12A3A-465A-43E2-9D92-E2830886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52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Build the product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FDCE2-08C7-4E19-BB82-D272CEB8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43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Cleve.ai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40,000+ users · Antler-backed</a:t>
            </a:r>
          </a:p>
        </p:txBody>
      </p:sp>
      <p:sp>
        <p:nvSpPr>
          <p:cNvPr id="15" name="milestone-03">
            <a:extLst xmlns:a="http://schemas.openxmlformats.org/drawingml/2006/main">
              <a:ext uri="{FF2B5EF4-FFF2-40B4-BE49-F238E27FC236}">
                <a16:creationId xmlns:a16="http://schemas.microsoft.com/office/drawing/2014/main" id="{8C54CB9D-09F0-404F-8FFA-CD027487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2A211C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ced6083c541d8"/>
          <a:stretch xmlns:a="http://schemas.openxmlformats.org/drawingml/2006/main"/>
        </p:blipFill>
        <p:spPr>
          <a:xfrm xmlns:a="http://schemas.openxmlformats.org/drawingml/2006/main">
            <a:off x="6572250" y="3135868"/>
            <a:ext cx="571500" cy="395764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5EB89-8B17-429F-8892-E02605E0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049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56B69-AEC6-47FF-B932-5CF84426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Teach at scale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E8D92-4B31-4ACA-8729-8218CDCA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907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National AI Competition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Nearly 2,000 students</a:t>
            </a:r>
          </a:p>
        </p:txBody>
      </p:sp>
      <p:sp>
        <p:nvSpPr>
          <p:cNvPr id="20" name="milestone-04">
            <a:extLst xmlns:a="http://schemas.openxmlformats.org/drawingml/2006/main">
              <a:ext uri="{FF2B5EF4-FFF2-40B4-BE49-F238E27FC236}">
                <a16:creationId xmlns:a16="http://schemas.microsoft.com/office/drawing/2014/main" id="{3BA83117-9234-46A4-8513-7076A35B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90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2A211C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6229d9a454c3d"/>
          <a:stretch xmlns:a="http://schemas.openxmlformats.org/drawingml/2006/main"/>
        </p:blipFill>
        <p:spPr>
          <a:xfrm xmlns:a="http://schemas.openxmlformats.org/drawingml/2006/main">
            <a:off x="9210675" y="30575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0B98D-5EF7-4BC0-9A1B-3EBDF5C0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3C118-667D-41F6-9E5F-697E98E2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52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Grow the ecosystem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23110-206F-4E5E-8730-4B1DBB32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43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Malaysian.ai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Community for AI builders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1D07F2-871C-4700-AB49-FDE29F31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48325"/>
            <a:ext cx="671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The common thread: turning lived context into useful systems.</a:t>
            </a:r>
          </a:p>
        </p:txBody>
      </p:sp>
      <p:sp>
        <p:nvSpPr>
          <p:cNvPr id="26" name="footer-2">
            <a:extLst xmlns:a="http://schemas.openxmlformats.org/drawingml/2006/main">
              <a:ext uri="{FF2B5EF4-FFF2-40B4-BE49-F238E27FC236}">
                <a16:creationId xmlns:a16="http://schemas.microsoft.com/office/drawing/2014/main" id="{9742D511-F9AC-465B-91BA-B766769A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ASHVIN PRAVEEN  ·  INTRODUCTION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528A34-F243-4754-B54D-367FCF55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28617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75236e19e43f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87261D0-E8F7-49DF-A1C6-CA361F4B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THE SHIFT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72DBE9-F5E3-4F45-87E3-6EBA6A02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A chatbot answers. A content engine improves.</a:t>
            </a:r>
          </a:p>
        </p:txBody>
      </p:sp>
      <p:sp>
        <p:nvSpPr>
          <p:cNvPr id="4" name="chatbot-field">
            <a:extLst xmlns:a="http://schemas.openxmlformats.org/drawingml/2006/main">
              <a:ext uri="{FF2B5EF4-FFF2-40B4-BE49-F238E27FC236}">
                <a16:creationId xmlns:a16="http://schemas.microsoft.com/office/drawing/2014/main" id="{D48E2FED-5867-4374-A3C4-9D88D018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3905250" cy="39338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EAE0D3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AF47C-2D62-451D-A265-AA6C1258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CHATBOT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40815-7D7B-4C34-8E12-574420F5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Starts from zero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32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every time.</a:t>
            </a:r>
          </a:p>
        </p:txBody>
      </p:sp>
      <p:sp>
        <p:nvSpPr>
          <p:cNvPr id="7" name="one-off-prompt">
            <a:extLst xmlns:a="http://schemas.openxmlformats.org/drawingml/2006/main">
              <a:ext uri="{FF2B5EF4-FFF2-40B4-BE49-F238E27FC236}">
                <a16:creationId xmlns:a16="http://schemas.microsoft.com/office/drawing/2014/main" id="{6C662262-3A62-4EE2-8FC2-3C381012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2667000" cy="590550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8DF98-A0B4-47D4-87B1-7597E408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57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“Write me a social post.”</a:t>
            </a:r>
          </a:p>
        </p:txBody>
      </p:sp>
      <p:sp>
        <p:nvSpPr>
          <p:cNvPr id="9" name="generic-draft">
            <a:extLst xmlns:a="http://schemas.openxmlformats.org/drawingml/2006/main">
              <a:ext uri="{FF2B5EF4-FFF2-40B4-BE49-F238E27FC236}">
                <a16:creationId xmlns:a16="http://schemas.microsoft.com/office/drawing/2014/main" id="{384F9D08-9C93-4889-964D-0157517F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810125"/>
            <a:ext cx="2133600" cy="523875"/>
          </a:xfrm>
          <a:prstGeom xmlns:a="http://schemas.openxmlformats.org/drawingml/2006/main" prst="roundRect">
            <a:avLst>
              <a:gd name="adj" fmla="val 32727"/>
            </a:avLst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00BBC-1476-4A4F-A194-D24AFF05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9720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Generic draft</a:t>
            </a:r>
          </a:p>
        </p:txBody>
      </p:sp>
      <p:cxnSp>
        <p:nvCxnSpPr>
          <p:cNvPr id="44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333625" y="4257675"/>
            <a:ext cx="4572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695F"/>
            </a:solidFill>
            <a:prstDash val="solid"/>
            <a:head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2399F-6244-4C28-960D-8830B67B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Then the context disappears.</a:t>
            </a:r>
          </a:p>
        </p:txBody>
      </p:sp>
      <p:sp>
        <p:nvSpPr>
          <p:cNvPr id="13" name="engine-field">
            <a:extLst xmlns:a="http://schemas.openxmlformats.org/drawingml/2006/main">
              <a:ext uri="{FF2B5EF4-FFF2-40B4-BE49-F238E27FC236}">
                <a16:creationId xmlns:a16="http://schemas.microsoft.com/office/drawing/2014/main" id="{B345F4F7-F01C-4AD1-B33F-439A1E4E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71675"/>
            <a:ext cx="6591300" cy="39338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A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0EAC4-A31F-4047-B55C-C3E58747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383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CONTENT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78FBD-1ECB-4DA4-880D-AB14C8FF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17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Carries your context forward.</a:t>
            </a:r>
          </a:p>
        </p:txBody>
      </p:sp>
      <p:sp>
        <p:nvSpPr>
          <p:cNvPr id="16" name="engine-context">
            <a:extLst xmlns:a="http://schemas.openxmlformats.org/drawingml/2006/main">
              <a:ext uri="{FF2B5EF4-FFF2-40B4-BE49-F238E27FC236}">
                <a16:creationId xmlns:a16="http://schemas.microsoft.com/office/drawing/2014/main" id="{F176BC08-86EF-4D4F-A98F-1C4247EE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24250"/>
            <a:ext cx="13525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AE0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69DCC-F301-44C4-929A-6C5D0EC3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95700"/>
            <a:ext cx="933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Context</a:t>
            </a:r>
          </a:p>
        </p:txBody>
      </p:sp>
      <p:sp>
        <p:nvSpPr>
          <p:cNvPr id="18" name="engine-memory">
            <a:extLst xmlns:a="http://schemas.openxmlformats.org/drawingml/2006/main">
              <a:ext uri="{FF2B5EF4-FFF2-40B4-BE49-F238E27FC236}">
                <a16:creationId xmlns:a16="http://schemas.microsoft.com/office/drawing/2014/main" id="{404D0C73-A359-44DD-B4BA-789ADFAF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00400"/>
            <a:ext cx="13525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AE0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8BD35-F1B5-4C88-99EE-88059AEA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933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Memory</a:t>
            </a:r>
          </a:p>
        </p:txBody>
      </p:sp>
      <p:sp>
        <p:nvSpPr>
          <p:cNvPr id="20" name="engine-feedback">
            <a:extLst xmlns:a="http://schemas.openxmlformats.org/drawingml/2006/main">
              <a:ext uri="{FF2B5EF4-FFF2-40B4-BE49-F238E27FC236}">
                <a16:creationId xmlns:a16="http://schemas.microsoft.com/office/drawing/2014/main" id="{981950A2-9399-430F-9C85-859C26D7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24350"/>
            <a:ext cx="13525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AE0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5965D-0739-44EE-9AB2-7629EC06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933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Feedback</a:t>
            </a:r>
          </a:p>
        </p:txBody>
      </p:sp>
      <p:sp>
        <p:nvSpPr>
          <p:cNvPr id="22" name="engine-workflow">
            <a:extLst xmlns:a="http://schemas.openxmlformats.org/drawingml/2006/main">
              <a:ext uri="{FF2B5EF4-FFF2-40B4-BE49-F238E27FC236}">
                <a16:creationId xmlns:a16="http://schemas.microsoft.com/office/drawing/2014/main" id="{BBEFE89A-D9F2-4CE5-8CCA-09B935C6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24250"/>
            <a:ext cx="13525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AE0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0A0BA-C7D0-4A73-87A6-7CCB5B52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95700"/>
            <a:ext cx="933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Workflow</a:t>
            </a:r>
          </a:p>
        </p:txBody>
      </p:sp>
      <p:sp>
        <p:nvSpPr>
          <p:cNvPr id="24" name="engine-output">
            <a:extLst xmlns:a="http://schemas.openxmlformats.org/drawingml/2006/main">
              <a:ext uri="{FF2B5EF4-FFF2-40B4-BE49-F238E27FC236}">
                <a16:creationId xmlns:a16="http://schemas.microsoft.com/office/drawing/2014/main" id="{3C14C3F4-41E2-4C7E-929E-25EEDCA1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2076450" cy="619125"/>
          </a:xfrm>
          <a:prstGeom xmlns:a="http://schemas.openxmlformats.org/drawingml/2006/main" prst="roundRect">
            <a:avLst>
              <a:gd name="adj" fmla="val 33846"/>
            </a:avLst>
          </a:prstGeom>
          <a:solidFill xmlns:a="http://schemas.openxmlformats.org/drawingml/2006/main">
            <a:srgbClr val="F0E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AA287-A0AD-4FD6-AE9A-9FA1FA3D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14900"/>
            <a:ext cx="1581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On-brand content,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7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faster</a:t>
            </a:r>
          </a:p>
        </p:txBody>
      </p:sp>
      <p:cxnSp>
        <p:nvCxnSpPr>
          <p:cNvPr id="59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6667500" y="3467100"/>
            <a:ext cx="4572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D1C0"/>
            </a:solidFill>
            <a:prstDash val="solid"/>
            <a:headEnd type="arrow" w="sm" len="sm"/>
          </a:ln>
        </p:spPr>
      </p:cxnSp>
      <p:cxnSp>
        <p:nvCxnSpPr>
          <p:cNvPr id="60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477250" y="3467100"/>
            <a:ext cx="4572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D1C0"/>
            </a:solidFill>
            <a:prstDash val="solid"/>
            <a:headEnd type="arrow" w="sm" len="sm"/>
          </a:ln>
        </p:spPr>
      </p:cxnSp>
      <p:cxnSp>
        <p:nvCxnSpPr>
          <p:cNvPr id="61" name=""/>
          <p:cNvCxnSpPr>
            <a:stCxn xmlns:a="http://schemas.openxmlformats.org/drawingml/2006/main" id="22" idx="2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8477250" y="4057650"/>
            <a:ext cx="1133475" cy="5334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DED1C0"/>
            </a:solidFill>
            <a:prstDash val="solid"/>
            <a:headEnd type="arrow" w="sm" len="sm"/>
          </a:ln>
        </p:spPr>
      </p:cxnSp>
      <p:cxnSp>
        <p:nvCxnSpPr>
          <p:cNvPr id="62" name=""/>
          <p:cNvCxnSpPr>
            <a:stCxn xmlns:a="http://schemas.openxmlformats.org/drawingml/2006/main" id="20" idx="1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H="1" flipV="1">
            <a:off x="5991225" y="4057650"/>
            <a:ext cx="1133475" cy="5334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DED1C0"/>
            </a:solidFill>
            <a:prstDash val="solid"/>
            <a:headEnd type="arrow" w="sm" len="sm"/>
          </a:ln>
        </p:spPr>
      </p:cxnSp>
      <p:cxnSp>
        <p:nvCxnSpPr>
          <p:cNvPr id="63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610725" y="4057650"/>
            <a:ext cx="36195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D1C0"/>
            </a:solidFill>
            <a:prstDash val="solid"/>
            <a:head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7E7482-F6AE-4A0C-8DF7-72D32B2B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340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Each round leaves the system smarter.</a:t>
            </a:r>
          </a:p>
        </p:txBody>
      </p:sp>
      <p:sp>
        <p:nvSpPr>
          <p:cNvPr id="32" name="footer-3">
            <a:extLst xmlns:a="http://schemas.openxmlformats.org/drawingml/2006/main">
              <a:ext uri="{FF2B5EF4-FFF2-40B4-BE49-F238E27FC236}">
                <a16:creationId xmlns:a16="http://schemas.microsoft.com/office/drawing/2014/main" id="{94C40F7D-1D51-487D-9CEC-27016AC3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ASHVIN PRAVEEN  ·  INTRODUCTION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73656A-A385-4988-A78B-30C68285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57431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772d2aa4c4c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A391B5F-B369-4520-9460-68D64242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THE AI TEAM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801594-F7A0-4C11-83A7-71654A6A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The best AI setup works like a team, not a tool.</a:t>
            </a:r>
          </a:p>
        </p:txBody>
      </p:sp>
      <p:sp>
        <p:nvSpPr>
          <p:cNvPr id="4" name="team-field">
            <a:extLst xmlns:a="http://schemas.openxmlformats.org/drawingml/2006/main">
              <a:ext uri="{FF2B5EF4-FFF2-40B4-BE49-F238E27FC236}">
                <a16:creationId xmlns:a16="http://schemas.microsoft.com/office/drawing/2014/main" id="{29FAB471-E667-4A41-B9A5-98801368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029075"/>
          </a:xfrm>
          <a:prstGeom xmlns:a="http://schemas.openxmlformats.org/drawingml/2006/main" prst="roundRect">
            <a:avLst>
              <a:gd name="adj" fmla="val 7092"/>
            </a:avLst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5" name="creative-director">
            <a:extLst xmlns:a="http://schemas.openxmlformats.org/drawingml/2006/main">
              <a:ext uri="{FF2B5EF4-FFF2-40B4-BE49-F238E27FC236}">
                <a16:creationId xmlns:a16="http://schemas.microsoft.com/office/drawing/2014/main" id="{D73553E0-EBAB-4F52-8A4B-38EDA3DA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0375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11C"/>
          </a:solidFill>
          <a:ln xmlns:a="http://schemas.openxmlformats.org/drawingml/2006/main" w="9525">
            <a:solidFill>
              <a:srgbClr val="2A21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5784A-978C-4C0B-BD4C-D7501F51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9567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E200E-1696-4FF1-A5A5-B75A2060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43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Creative director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82D30-089C-4F49-97B9-4B04B86F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1482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Sets the standard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and makes the calls</a:t>
            </a:r>
          </a:p>
        </p:txBody>
      </p:sp>
      <p:sp>
        <p:nvSpPr>
          <p:cNvPr id="9" name="role-researcher">
            <a:extLst xmlns:a="http://schemas.openxmlformats.org/drawingml/2006/main">
              <a:ext uri="{FF2B5EF4-FFF2-40B4-BE49-F238E27FC236}">
                <a16:creationId xmlns:a16="http://schemas.microsoft.com/office/drawing/2014/main" id="{14939AD2-5BD6-414E-AA5B-4CDAB72E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2476500" cy="10287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70F8A-3F70-482D-8C46-DA42F6B3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241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Researcher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C0E77-93A8-46F8-8768-484A15F4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67025"/>
            <a:ext cx="2019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Finds evidence, questions,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and useful audience signals</a:t>
            </a:r>
          </a:p>
        </p:txBody>
      </p:sp>
      <p:sp>
        <p:nvSpPr>
          <p:cNvPr id="12" name="role-strategist">
            <a:extLst xmlns:a="http://schemas.openxmlformats.org/drawingml/2006/main">
              <a:ext uri="{FF2B5EF4-FFF2-40B4-BE49-F238E27FC236}">
                <a16:creationId xmlns:a16="http://schemas.microsoft.com/office/drawing/2014/main" id="{EC40304F-16B9-43CF-98D1-20B70353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33625"/>
            <a:ext cx="2476500" cy="10287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661F5-0E73-480B-8520-3935B490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241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Strategist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5FB60-991B-4A04-9ACE-BCFD8420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67025"/>
            <a:ext cx="2019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Turns goals into angles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and campaign briefs</a:t>
            </a:r>
          </a:p>
        </p:txBody>
      </p:sp>
      <p:sp>
        <p:nvSpPr>
          <p:cNvPr id="15" name="role-writer">
            <a:extLst xmlns:a="http://schemas.openxmlformats.org/drawingml/2006/main">
              <a:ext uri="{FF2B5EF4-FFF2-40B4-BE49-F238E27FC236}">
                <a16:creationId xmlns:a16="http://schemas.microsoft.com/office/drawing/2014/main" id="{2DB7EB0B-4C61-4B6D-9EAA-7BADF477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2476500" cy="10287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F73BE-E1C5-47F2-81C1-25B24DBE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Writer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93ED8-B3AC-4861-9BB9-3E87F26B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5400"/>
            <a:ext cx="2019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Drafts in your voice,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using the shared context</a:t>
            </a:r>
          </a:p>
        </p:txBody>
      </p:sp>
      <p:sp>
        <p:nvSpPr>
          <p:cNvPr id="18" name="role-editor">
            <a:extLst xmlns:a="http://schemas.openxmlformats.org/drawingml/2006/main">
              <a:ext uri="{FF2B5EF4-FFF2-40B4-BE49-F238E27FC236}">
                <a16:creationId xmlns:a16="http://schemas.microsoft.com/office/drawing/2014/main" id="{D9124249-120F-4A37-97EE-3DB92625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2476500" cy="10287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156F9-2769-41FE-B206-48D2D7CC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625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Editor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6D226-7B54-4B1B-B30C-0E96ED05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05400"/>
            <a:ext cx="2019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Checks facts, tone,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and fit before publishing</a:t>
            </a:r>
          </a:p>
        </p:txBody>
      </p:sp>
      <p:cxnSp>
        <p:nvCxnSpPr>
          <p:cNvPr id="48" name=""/>
          <p:cNvCxnSpPr>
            <a:stCxn xmlns:a="http://schemas.openxmlformats.org/drawingml/2006/main" id="5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543300" y="2847975"/>
            <a:ext cx="150495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C3B5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5" idx="6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7143750" y="2847975"/>
            <a:ext cx="150495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C3B5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5" idx="2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3543300" y="4048125"/>
            <a:ext cx="150495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C3B5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5" idx="6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143750" y="4048125"/>
            <a:ext cx="150495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C3B5"/>
            </a:solidFill>
            <a:prstDash val="solid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6C5B88-A258-46A3-BB5F-68ECB1D0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436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You set the standards. The AI team handles the repeatable work.</a:t>
            </a:r>
          </a:p>
        </p:txBody>
      </p:sp>
      <p:sp>
        <p:nvSpPr>
          <p:cNvPr id="26" name="footer-4">
            <a:extLst xmlns:a="http://schemas.openxmlformats.org/drawingml/2006/main">
              <a:ext uri="{FF2B5EF4-FFF2-40B4-BE49-F238E27FC236}">
                <a16:creationId xmlns:a16="http://schemas.microsoft.com/office/drawing/2014/main" id="{ACF996EA-56B0-4D03-A7A0-D31C605F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ASHVIN PRAVEEN  ·  INTRODUCTION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D5A797-B4E7-4268-A08E-E516E7CE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758525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0a25aa9b3437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15E77BD-C652-404C-BC3B-21DBCA45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ONE SOURCE OF TRUTH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D2F16C-74F2-4193-AE93-2EEAB0EB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One update. Every channel gets smarter.</a:t>
            </a:r>
          </a:p>
        </p:txBody>
      </p:sp>
      <p:sp>
        <p:nvSpPr>
          <p:cNvPr id="4" name="shared-source">
            <a:extLst xmlns:a="http://schemas.openxmlformats.org/drawingml/2006/main">
              <a:ext uri="{FF2B5EF4-FFF2-40B4-BE49-F238E27FC236}">
                <a16:creationId xmlns:a16="http://schemas.microsoft.com/office/drawing/2014/main" id="{35661810-51C3-421D-9D58-AB1CCDED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3162300" cy="24003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A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046F6-3A09-42A7-B38F-56654F9A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908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SHARED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5DD13-F952-438A-90C0-A8C35252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90875"/>
            <a:ext cx="238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325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Change the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325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message here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12FF5-013C-48BF-B219-FF64EDDB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386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Brand voice · product facts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campaign brief · latest decisions</a:t>
            </a:r>
          </a:p>
        </p:txBody>
      </p:sp>
      <p:sp>
        <p:nvSpPr>
          <p:cNvPr id="8" name="propagation-hub">
            <a:extLst xmlns:a="http://schemas.openxmlformats.org/drawingml/2006/main">
              <a:ext uri="{FF2B5EF4-FFF2-40B4-BE49-F238E27FC236}">
                <a16:creationId xmlns:a16="http://schemas.microsoft.com/office/drawing/2014/main" id="{723AC3C8-7EF2-46EB-8115-27883CBC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5752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1C0"/>
          </a:solidFill>
          <a:ln xmlns:a="http://schemas.openxmlformats.org/drawingml/2006/main" w="19050">
            <a:solidFill>
              <a:srgbClr val="2A21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E133D-A265-46F6-BC0A-FA737469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76625"/>
            <a:ext cx="895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3000"/>
              </a:lnSpc>
              <a:buNone/>
              <a:defRPr sz="135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SYSTEM</a:t>
            </a:r>
          </a:p>
          <a:p xmlns:a="http://schemas.openxmlformats.org/drawingml/2006/main">
            <a:pPr algn="ctr">
              <a:lnSpc>
                <a:spcPct val="93000"/>
              </a:lnSpc>
              <a:buNone/>
              <a:defRPr sz="135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MEMORY</a:t>
            </a:r>
          </a:p>
        </p:txBody>
      </p:sp>
      <p:sp>
        <p:nvSpPr>
          <p:cNvPr id="10" name="channel-1">
            <a:extLst xmlns:a="http://schemas.openxmlformats.org/drawingml/2006/main">
              <a:ext uri="{FF2B5EF4-FFF2-40B4-BE49-F238E27FC236}">
                <a16:creationId xmlns:a16="http://schemas.microsoft.com/office/drawing/2014/main" id="{5CB50C0D-04EA-4ECD-AF42-9AC51954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24075"/>
            <a:ext cx="2857500" cy="542925"/>
          </a:xfrm>
          <a:prstGeom xmlns:a="http://schemas.openxmlformats.org/drawingml/2006/main" prst="roundRect">
            <a:avLst>
              <a:gd name="adj" fmla="val 3508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65367-6EFC-4528-B14A-40655640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860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Website   ✓ updated</a:t>
            </a:r>
          </a:p>
        </p:txBody>
      </p:sp>
      <p:sp>
        <p:nvSpPr>
          <p:cNvPr id="12" name="channel-2">
            <a:extLst xmlns:a="http://schemas.openxmlformats.org/drawingml/2006/main">
              <a:ext uri="{FF2B5EF4-FFF2-40B4-BE49-F238E27FC236}">
                <a16:creationId xmlns:a16="http://schemas.microsoft.com/office/drawing/2014/main" id="{4087FD7F-9DB1-40A8-825A-B51EF7FB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76550"/>
            <a:ext cx="2857500" cy="542925"/>
          </a:xfrm>
          <a:prstGeom xmlns:a="http://schemas.openxmlformats.org/drawingml/2006/main" prst="roundRect">
            <a:avLst>
              <a:gd name="adj" fmla="val 3508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515EC-A647-4390-87DC-9FEE2F70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3847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Email   ✓ updated</a:t>
            </a:r>
          </a:p>
        </p:txBody>
      </p:sp>
      <p:sp>
        <p:nvSpPr>
          <p:cNvPr id="14" name="channel-3">
            <a:extLst xmlns:a="http://schemas.openxmlformats.org/drawingml/2006/main">
              <a:ext uri="{FF2B5EF4-FFF2-40B4-BE49-F238E27FC236}">
                <a16:creationId xmlns:a16="http://schemas.microsoft.com/office/drawing/2014/main" id="{925BDE98-4DBC-469D-8137-29164EB6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29025"/>
            <a:ext cx="2857500" cy="542925"/>
          </a:xfrm>
          <a:prstGeom xmlns:a="http://schemas.openxmlformats.org/drawingml/2006/main" prst="roundRect">
            <a:avLst>
              <a:gd name="adj" fmla="val 35088"/>
            </a:avLst>
          </a:prstGeom>
          <a:solidFill xmlns:a="http://schemas.openxmlformats.org/drawingml/2006/main">
            <a:srgbClr val="2A211C"/>
          </a:solidFill>
          <a:ln xmlns:a="http://schemas.openxmlformats.org/drawingml/2006/main" w="9525">
            <a:solidFill>
              <a:srgbClr val="2A21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90115-62C5-4D90-AE08-9BEED26E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909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Social   ✓ updated</a:t>
            </a:r>
          </a:p>
        </p:txBody>
      </p:sp>
      <p:sp>
        <p:nvSpPr>
          <p:cNvPr id="16" name="channel-4">
            <a:extLst xmlns:a="http://schemas.openxmlformats.org/drawingml/2006/main">
              <a:ext uri="{FF2B5EF4-FFF2-40B4-BE49-F238E27FC236}">
                <a16:creationId xmlns:a16="http://schemas.microsoft.com/office/drawing/2014/main" id="{8300DB7D-FC51-4D5E-A14B-26F0C22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81500"/>
            <a:ext cx="2857500" cy="542925"/>
          </a:xfrm>
          <a:prstGeom xmlns:a="http://schemas.openxmlformats.org/drawingml/2006/main" prst="roundRect">
            <a:avLst>
              <a:gd name="adj" fmla="val 3508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C73FF-2D21-40A5-AF95-0D6624A3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434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Ads   ✓ updated</a:t>
            </a:r>
          </a:p>
        </p:txBody>
      </p:sp>
      <p:sp>
        <p:nvSpPr>
          <p:cNvPr id="18" name="channel-5">
            <a:extLst xmlns:a="http://schemas.openxmlformats.org/drawingml/2006/main">
              <a:ext uri="{FF2B5EF4-FFF2-40B4-BE49-F238E27FC236}">
                <a16:creationId xmlns:a16="http://schemas.microsoft.com/office/drawing/2014/main" id="{91296739-16DD-47DC-9F72-0DF7D8D3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33975"/>
            <a:ext cx="2857500" cy="542925"/>
          </a:xfrm>
          <a:prstGeom xmlns:a="http://schemas.openxmlformats.org/drawingml/2006/main" prst="roundRect">
            <a:avLst>
              <a:gd name="adj" fmla="val 3508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3F011-1DE7-450B-BAFA-4B4A5F43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959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Sales materials   ✓ updated</a:t>
            </a:r>
          </a:p>
        </p:txBody>
      </p:sp>
      <p:cxnSp>
        <p:nvCxnSpPr>
          <p:cNvPr id="48" name=""/>
          <p:cNvCxnSpPr>
            <a:stCxn xmlns:a="http://schemas.openxmlformats.org/drawingml/2006/main" id="4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3971925" y="3724275"/>
            <a:ext cx="10763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A3B32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8" idx="6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477000" y="2395538"/>
            <a:ext cx="1381125" cy="1376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C3B5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8" idx="6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6477000" y="3148013"/>
            <a:ext cx="1381125" cy="6238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C3B5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8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477000" y="3771900"/>
            <a:ext cx="1381125" cy="128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C3B5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8" idx="6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477000" y="3771900"/>
            <a:ext cx="1381125" cy="881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C3B5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8" idx="6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477000" y="3771900"/>
            <a:ext cx="1381125" cy="1633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C3B5"/>
            </a:solidFill>
            <a:prstDash val="solid"/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A632D7-13AF-4859-82B4-0655CF46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62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Consistency becomes a system property — not a memory test.</a:t>
            </a:r>
          </a:p>
        </p:txBody>
      </p:sp>
      <p:sp>
        <p:nvSpPr>
          <p:cNvPr id="27" name="footer-5">
            <a:extLst xmlns:a="http://schemas.openxmlformats.org/drawingml/2006/main">
              <a:ext uri="{FF2B5EF4-FFF2-40B4-BE49-F238E27FC236}">
                <a16:creationId xmlns:a16="http://schemas.microsoft.com/office/drawing/2014/main" id="{89B7A589-0478-4939-9D52-75D80D9D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ASHVIN PRAVEEN  ·  INTRODUCTION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A85F90-8C5B-42E3-BF87-98DA3C4A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71763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a49118f8e440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D563E5C-8B69-481C-96D2-309A3283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BUILD THE OPERATING SYSTEM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C14B92-14D6-471D-80BE-DB66A6B5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A useful content engine is built in three loops.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03C92-0375-4F81-BC38-0BEBE880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CFC3B5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CFC3B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E1683-8CF9-4063-A069-5050E0D7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Capture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62963-BA5E-4461-8D5A-77292E74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Voice, audience, offers,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proof, examples, and SOPs.</a:t>
            </a:r>
          </a:p>
        </p:txBody>
      </p:sp>
      <p:sp>
        <p:nvSpPr>
          <p:cNvPr id="7" name="step-divider-1">
            <a:extLst xmlns:a="http://schemas.openxmlformats.org/drawingml/2006/main">
              <a:ext uri="{FF2B5EF4-FFF2-40B4-BE49-F238E27FC236}">
                <a16:creationId xmlns:a16="http://schemas.microsoft.com/office/drawing/2014/main" id="{9B298659-D45C-4368-B335-C08A451A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0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B8E6F-2179-4501-BAAF-9A2DA2B1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79210-46B0-40DC-AA2A-E19EA581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14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Create with roles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80AF7-94F6-49E2-8639-71448CBF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Brief → research → draft →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edit with clear responsibilities.</a:t>
            </a:r>
          </a:p>
        </p:txBody>
      </p:sp>
      <p:sp>
        <p:nvSpPr>
          <p:cNvPr id="11" name="step-divider-2">
            <a:extLst xmlns:a="http://schemas.openxmlformats.org/drawingml/2006/main">
              <a:ext uri="{FF2B5EF4-FFF2-40B4-BE49-F238E27FC236}">
                <a16:creationId xmlns:a16="http://schemas.microsoft.com/office/drawing/2014/main" id="{D1035342-4EB7-4319-8803-B905A8E5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05050"/>
            <a:ext cx="0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3CC1D-3BAD-4E9B-89A9-759A70DE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CFC3B5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CFC3B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696E4-0646-48FD-9104-0923D283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Retain the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2DEF6-DAA4-46B2-A1F2-7D0653B9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Save feedback, decisions,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and winning examples.</a:t>
            </a:r>
          </a:p>
        </p:txBody>
      </p:sp>
      <p:sp>
        <p:nvSpPr>
          <p:cNvPr id="15" name="system-summary">
            <a:extLst xmlns:a="http://schemas.openxmlformats.org/drawingml/2006/main">
              <a:ext uri="{FF2B5EF4-FFF2-40B4-BE49-F238E27FC236}">
                <a16:creationId xmlns:a16="http://schemas.microsoft.com/office/drawing/2014/main" id="{5550EF97-B2E7-46A6-93D7-50E162A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10706100" cy="762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2A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0DFAA-F613-42A9-9F49-949C567C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6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Context 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50587-18EA-438E-9082-1CEB487B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2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FC1E8-2D7F-4F4B-8DC8-952583B3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Content 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EEEB8-1579-4B75-BE86-547D35F1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2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24A14-E62C-4B84-9714-BEE0DFA5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673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Learning retained</a:t>
            </a:r>
          </a:p>
        </p:txBody>
      </p:sp>
      <p:sp>
        <p:nvSpPr>
          <p:cNvPr id="21" name="footer-6">
            <a:extLst xmlns:a="http://schemas.openxmlformats.org/drawingml/2006/main">
              <a:ext uri="{FF2B5EF4-FFF2-40B4-BE49-F238E27FC236}">
                <a16:creationId xmlns:a16="http://schemas.microsoft.com/office/drawing/2014/main" id="{EAEC1D22-E642-467D-A540-D8D43E38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ASHVIN PRAVEEN  ·  MARKETING OPERATING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FD84F7-8638-4F9D-801E-022CB38D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670620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628a54b1a48f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CB80E25-08F3-40AE-9521-34B30451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THE ONBOARDING ANALOGY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FD8918-4161-429D-8094-CEBB187D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Treat AI like a new hire, not a mind reader.</a:t>
            </a:r>
          </a:p>
        </p:txBody>
      </p:sp>
      <p:sp>
        <p:nvSpPr>
          <p:cNvPr id="4" name="day-one-field">
            <a:extLst xmlns:a="http://schemas.openxmlformats.org/drawingml/2006/main">
              <a:ext uri="{FF2B5EF4-FFF2-40B4-BE49-F238E27FC236}">
                <a16:creationId xmlns:a16="http://schemas.microsoft.com/office/drawing/2014/main" id="{5C782742-06E2-4261-AFC0-5CEB055E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095750" cy="3714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E0D3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CACBB-B8D4-46C6-8C0B-FD15CE31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DAY 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48D40-EBF9-4B9A-8AD3-D4BD41BF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“Write me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92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a post.”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A81F8-8F45-446B-920B-2CD4F1ED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No brand context.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No good examples.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No memory of feedback.</a:t>
            </a:r>
          </a:p>
        </p:txBody>
      </p:sp>
      <p:sp>
        <p:nvSpPr>
          <p:cNvPr id="8" name="onboarding-field">
            <a:extLst xmlns:a="http://schemas.openxmlformats.org/drawingml/2006/main">
              <a:ext uri="{FF2B5EF4-FFF2-40B4-BE49-F238E27FC236}">
                <a16:creationId xmlns:a16="http://schemas.microsoft.com/office/drawing/2014/main" id="{75C640DF-B65F-4785-B4CB-431427D3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95500"/>
            <a:ext cx="6286500" cy="3714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A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1173F-273C-443E-8C19-1016B67E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81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A BETTER FIRST WEEK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2E0C3-C6C1-4C89-8C12-2C17D433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718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15447-1876-4A89-B9B7-B9414070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527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Share the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045DB-A83E-4F2A-9DB1-5ABC82A7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62325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3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DA252-6EFA-461A-A09A-1DF171E3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00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B23A3-6461-464E-B2D1-55EFB2A9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81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Show good examples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E246D-07A2-48A0-84E4-EEFA65BE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990975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3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5DA5D-064D-42CB-AC5C-27BD0F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291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FDEAC-5822-43FE-B054-04750095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100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Explain the SOP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3E0BA-903B-40D7-B918-572EF548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619625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3B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FD527-5CD4-4048-8E3E-41D0951E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57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FE940-8C94-4480-8702-B2996519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387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Review — and save the feedback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B267F-0692-4B96-9B44-307C9021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381625"/>
            <a:ext cx="514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Prompts are instructions. Context is onboarding.</a:t>
            </a:r>
          </a:p>
        </p:txBody>
      </p:sp>
      <p:sp>
        <p:nvSpPr>
          <p:cNvPr id="22" name="footer-7">
            <a:extLst xmlns:a="http://schemas.openxmlformats.org/drawingml/2006/main">
              <a:ext uri="{FF2B5EF4-FFF2-40B4-BE49-F238E27FC236}">
                <a16:creationId xmlns:a16="http://schemas.microsoft.com/office/drawing/2014/main" id="{1EED263F-55A9-41DF-8E5B-B7652D4A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ASHVIN PRAVEEN  ·  MARKETING OPERATING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05AC9E-30B5-464F-8740-0AB21C27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989305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a16e800e6423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E939713-8B3B-470C-8F59-51FCAC61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THE KNOWLEDGE FLYWHEEL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574E5B-55BC-4FF6-9B47-192CF631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Every review should make the next draft better.</a:t>
            </a:r>
          </a:p>
        </p:txBody>
      </p:sp>
      <p:sp>
        <p:nvSpPr>
          <p:cNvPr id="4" name="flywheel-field">
            <a:extLst xmlns:a="http://schemas.openxmlformats.org/drawingml/2006/main">
              <a:ext uri="{FF2B5EF4-FFF2-40B4-BE49-F238E27FC236}">
                <a16:creationId xmlns:a16="http://schemas.microsoft.com/office/drawing/2014/main" id="{5DE72F35-61E7-4649-BC6D-63842CA7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47875"/>
            <a:ext cx="7734300" cy="39052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5" name="flywheel-brief">
            <a:extLst xmlns:a="http://schemas.openxmlformats.org/drawingml/2006/main">
              <a:ext uri="{FF2B5EF4-FFF2-40B4-BE49-F238E27FC236}">
                <a16:creationId xmlns:a16="http://schemas.microsoft.com/office/drawing/2014/main" id="{7030D6F7-499B-4B04-BEBF-99BCF336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76500"/>
            <a:ext cx="1809750" cy="590550"/>
          </a:xfrm>
          <a:prstGeom xmlns:a="http://schemas.openxmlformats.org/drawingml/2006/main" prst="roundRect">
            <a:avLst>
              <a:gd name="adj" fmla="val 3548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6" name="flywheel-draft">
            <a:extLst xmlns:a="http://schemas.openxmlformats.org/drawingml/2006/main">
              <a:ext uri="{FF2B5EF4-FFF2-40B4-BE49-F238E27FC236}">
                <a16:creationId xmlns:a16="http://schemas.microsoft.com/office/drawing/2014/main" id="{D3764320-229F-469C-9951-EAFE69A2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76500"/>
            <a:ext cx="1809750" cy="590550"/>
          </a:xfrm>
          <a:prstGeom xmlns:a="http://schemas.openxmlformats.org/drawingml/2006/main" prst="roundRect">
            <a:avLst>
              <a:gd name="adj" fmla="val 3548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7" name="flywheel-review">
            <a:extLst xmlns:a="http://schemas.openxmlformats.org/drawingml/2006/main">
              <a:ext uri="{FF2B5EF4-FFF2-40B4-BE49-F238E27FC236}">
                <a16:creationId xmlns:a16="http://schemas.microsoft.com/office/drawing/2014/main" id="{5A42373F-8D42-4B74-A4CF-34D60B1A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781550"/>
            <a:ext cx="1809750" cy="590550"/>
          </a:xfrm>
          <a:prstGeom xmlns:a="http://schemas.openxmlformats.org/drawingml/2006/main" prst="roundRect">
            <a:avLst>
              <a:gd name="adj" fmla="val 3548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8" name="flywheel-capture">
            <a:extLst xmlns:a="http://schemas.openxmlformats.org/drawingml/2006/main">
              <a:ext uri="{FF2B5EF4-FFF2-40B4-BE49-F238E27FC236}">
                <a16:creationId xmlns:a16="http://schemas.microsoft.com/office/drawing/2014/main" id="{E6600631-3554-40D7-9F62-15ACDF1E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81550"/>
            <a:ext cx="1809750" cy="590550"/>
          </a:xfrm>
          <a:prstGeom xmlns:a="http://schemas.openxmlformats.org/drawingml/2006/main" prst="roundRect">
            <a:avLst>
              <a:gd name="adj" fmla="val 3548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9" name="shared-memory">
            <a:extLst xmlns:a="http://schemas.openxmlformats.org/drawingml/2006/main">
              <a:ext uri="{FF2B5EF4-FFF2-40B4-BE49-F238E27FC236}">
                <a16:creationId xmlns:a16="http://schemas.microsoft.com/office/drawing/2014/main" id="{A9C5D8C7-49ED-48DB-A05C-2C5D2EBA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21526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11C"/>
          </a:solidFill>
          <a:ln xmlns:a="http://schemas.openxmlformats.org/drawingml/2006/main" w="9525">
            <a:solidFill>
              <a:srgbClr val="2A211C"/>
            </a:solidFill>
            <a:prstDash val="solid"/>
          </a:ln>
        </p:spPr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143625" y="2771775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A3B32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906000" y="3067050"/>
            <a:ext cx="0" cy="1714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A3B32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6143625" y="5076825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A3B32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8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5238750" y="3067050"/>
            <a:ext cx="0" cy="1714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A3B32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9A296-C113-4C6D-960F-5621B96A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574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Brief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63998-3EF6-4DE1-9C5C-D27A3449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574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Draft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E2CD8-3682-456F-B683-351D7AF7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625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B95BB-EC47-427B-BC5B-5BD0B3E8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625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9CB0D-11FC-4C56-9C9A-A2FE57F8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48075"/>
            <a:ext cx="1352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575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SHARED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575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85089-67C5-4E0D-AF88-EE2C700C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The real asset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400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isn’t the post.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5CABB-DB5E-4BEC-8F55-1C95A437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619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It’s what the system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learned while making it.</a:t>
            </a:r>
          </a:p>
        </p:txBody>
      </p:sp>
      <p:sp>
        <p:nvSpPr>
          <p:cNvPr id="21" name="footer-8">
            <a:extLst xmlns:a="http://schemas.openxmlformats.org/drawingml/2006/main">
              <a:ext uri="{FF2B5EF4-FFF2-40B4-BE49-F238E27FC236}">
                <a16:creationId xmlns:a16="http://schemas.microsoft.com/office/drawing/2014/main" id="{54A91662-D4D3-47C6-A9E3-C041A834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ASHVIN PRAVEEN  ·  MARKETING OPERATING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33E04-6654-4F3F-B8DA-07ACD664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037115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f1a5968a4424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63B469F-82F6-4144-8B9F-B30F10B2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MAKE CONTEXT VISIBLE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D1227B-4B56-4BB6-B474-58EC6A04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9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Your AI gets better when the context is organised.</a:t>
            </a:r>
          </a:p>
        </p:txBody>
      </p:sp>
      <p:sp>
        <p:nvSpPr>
          <p:cNvPr id="4" name="workspace-window">
            <a:extLst xmlns:a="http://schemas.openxmlformats.org/drawingml/2006/main">
              <a:ext uri="{FF2B5EF4-FFF2-40B4-BE49-F238E27FC236}">
                <a16:creationId xmlns:a16="http://schemas.microsoft.com/office/drawing/2014/main" id="{B66BE14D-78DD-4272-B25E-7E9DA467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0706100" cy="4000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CFC3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" name="workspace-toolbar">
            <a:extLst xmlns:a="http://schemas.openxmlformats.org/drawingml/2006/main">
              <a:ext uri="{FF2B5EF4-FFF2-40B4-BE49-F238E27FC236}">
                <a16:creationId xmlns:a16="http://schemas.microsoft.com/office/drawing/2014/main" id="{8FDFC2CD-C7F2-4B4B-83BB-E48EBEFE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0706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91CBD-0DFE-4ED8-8819-E42B768C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CONTENT ENGINE  /  EXAMPLE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65A81-E5B1-41BC-A487-3AC541EB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431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DED1C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ED1C0"/>
                </a:solidFill>
                <a:latin typeface="Avenir Next"/>
                <a:ea typeface="Avenir Next"/>
                <a:cs typeface="Avenir Next"/>
              </a:rPr>
              <a:t>●  ●  ●</a:t>
            </a:r>
          </a:p>
        </p:txBody>
      </p:sp>
      <p:sp>
        <p:nvSpPr>
          <p:cNvPr id="8" name="folder-tree">
            <a:extLst xmlns:a="http://schemas.openxmlformats.org/drawingml/2006/main">
              <a:ext uri="{FF2B5EF4-FFF2-40B4-BE49-F238E27FC236}">
                <a16:creationId xmlns:a16="http://schemas.microsoft.com/office/drawing/2014/main" id="{3F20AC29-C91F-40D8-85B4-400CA265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695700" cy="3600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AE0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8DCE6-857C-45F7-A5D1-AB5DE191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FOLDERS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B2C4C-9BB3-47EB-8313-F352BB00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▸  00  Start here</a:t>
            </a:r>
          </a:p>
        </p:txBody>
      </p:sp>
      <p:sp>
        <p:nvSpPr>
          <p:cNvPr id="11" name="selected-folder">
            <a:extLst xmlns:a="http://schemas.openxmlformats.org/drawingml/2006/main">
              <a:ext uri="{FF2B5EF4-FFF2-40B4-BE49-F238E27FC236}">
                <a16:creationId xmlns:a16="http://schemas.microsoft.com/office/drawing/2014/main" id="{8B9B4D37-06B0-4077-8553-99180DD4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3219450" cy="323850"/>
          </a:xfrm>
          <a:prstGeom xmlns:a="http://schemas.openxmlformats.org/drawingml/2006/main" prst="roundRect">
            <a:avLst>
              <a:gd name="adj" fmla="val 44118"/>
            </a:avLst>
          </a:prstGeom>
          <a:solidFill xmlns:a="http://schemas.openxmlformats.org/drawingml/2006/main">
            <a:srgbClr val="2A21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DD304-AA7A-4E71-AE30-FF147E1C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0EBE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0EBE1"/>
                </a:solidFill>
                <a:latin typeface="Avenir Next"/>
                <a:ea typeface="Avenir Next"/>
                <a:cs typeface="Avenir Next"/>
              </a:rPr>
              <a:t>▸  01  Brand voice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C1BAB-134F-4E3C-A67F-7F496421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▸  02  Audience &amp; personas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8D4A7-CBB6-4B9D-B6CC-63B783C0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▸  03  Products &amp;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36C01-A105-4E92-BC63-8FFC8A4D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▸  04  SOPs &amp; workflows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AE9F2-6C4B-449C-8CC0-B6B63359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816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▸  05  Best examples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D143E-8D45-43BB-9D10-63585601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816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▸  06  Feedback &amp; decisions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AE287-F41A-4301-9C01-1F55D6B7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146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01 BRAND VOICE  /  VOICE-GUIDE.TXT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AD895-D2A6-4AB2-96F6-D52B3F30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33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A211C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2A211C"/>
                </a:solidFill>
                <a:latin typeface="Avenir Next"/>
                <a:ea typeface="Avenir Next"/>
                <a:cs typeface="Avenir Next"/>
              </a:rPr>
              <a:t>Voice guide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178C5-0F09-44A8-A2A0-82608A90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385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SOUNDS LIKE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2AEC1-9356-47BD-9A53-EA94450A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95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Warm, clear, quietly confident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E32E0-91C8-4CC3-87C9-B4609E6A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00525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85C8A3-E156-4A93-9D46-A9647FC8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05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PREFER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A7B6F7-CD05-45BE-8DB8-4893752C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862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Specifics, proof, useful examples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16C36A-60CB-464D-86A3-F5273836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67275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3B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7044DD-EFF8-43DA-BDDC-6C1CD77F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720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AVOID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1D4B73-49B0-44D4-B9E9-CB26DF67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530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A3B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4A3B32"/>
                </a:solidFill>
                <a:latin typeface="Avenir Next"/>
                <a:ea typeface="Avenir Next"/>
                <a:cs typeface="Avenir Next"/>
              </a:rPr>
              <a:t>Hype, jargon, generic superlatives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6F2B4E-4A14-465D-8180-BA46EB89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57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One place for context. One source of truth.</a:t>
            </a:r>
          </a:p>
        </p:txBody>
      </p:sp>
      <p:sp>
        <p:nvSpPr>
          <p:cNvPr id="29" name="footer-9">
            <a:extLst xmlns:a="http://schemas.openxmlformats.org/drawingml/2006/main">
              <a:ext uri="{FF2B5EF4-FFF2-40B4-BE49-F238E27FC236}">
                <a16:creationId xmlns:a16="http://schemas.microsoft.com/office/drawing/2014/main" id="{8D27F2BA-4240-4954-99BF-674F6D5B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ASHVIN PRAVEEN  ·  MARKETING OPERATING 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E05175-6368-4AEB-99D4-2E5F7D3F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5695F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55560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0" dist="98066" dir="3656724">
              <a:srgbClr val="2A211C">
                <a:alpha val="18000"/>
              </a:srgbClr>
            </a:outerShdw>
          </a:effectLst>
        </a:effectStyle>
        <a:effectStyle>
          <a:effectLst>
            <a:outerShdw blurRad="114300" dist="63896" dir="3806097">
              <a:srgbClr val="2A211C">
                <a:alpha val="12000"/>
              </a:srgbClr>
            </a:outerShdw>
          </a:effectLst>
        </a:effectStyle>
        <a:effectStyle>
          <a:effectLst>
            <a:outerShdw blurRad="171450" dist="72540" dir="4008085">
              <a:srgbClr val="2A211C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2026-07-24T02:37:32.9150000Z</dcterms:created>
  <dcterms:modified xsi:type="dcterms:W3CDTF">2026-07-24T02:37:32.9150000Z</dcterms:modified>
</coreProperties>
</file>