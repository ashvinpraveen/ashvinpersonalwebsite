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611031402140a7" /><Relationship Type="http://schemas.openxmlformats.org/officeDocument/2006/relationships/extended-properties" Target="/docProps/app.xml" Id="R3bb8cef1d0304556" /><Relationship Type="http://schemas.openxmlformats.org/officeDocument/2006/relationships/officeDocument" Target="/ppt/presentation.xml" Id="R0001dc95e4574e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99f2fb00a84a15"/>
  </p:sldMasterIdLst>
  <p:notesMasterIdLst>
    <p:notesMasterId xmlns:r="http://schemas.openxmlformats.org/officeDocument/2006/relationships" r:id="R5baec67f0ef84a5d"/>
  </p:notesMasterIdLst>
  <p:sldIdLst>
    <p:sldId xmlns:r="http://schemas.openxmlformats.org/officeDocument/2006/relationships" id="256" r:id="Rf3285ec5c467416d"/>
    <p:sldId xmlns:r="http://schemas.openxmlformats.org/officeDocument/2006/relationships" id="257" r:id="R898f67b4f16d4e87"/>
    <p:sldId xmlns:r="http://schemas.openxmlformats.org/officeDocument/2006/relationships" id="258" r:id="Ra4dfc00719be4d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c77fedea1c4ca7" /><Relationship Type="http://schemas.openxmlformats.org/officeDocument/2006/relationships/slideMaster" Target="/ppt/slideMasters/slideMaster1.xml" Id="Rb999f2fb00a84a15" /><Relationship Type="http://schemas.openxmlformats.org/officeDocument/2006/relationships/notesMaster" Target="/ppt/notesMasters/notesMaster1.xml" Id="R5baec67f0ef84a5d" /><Relationship Type="http://schemas.openxmlformats.org/officeDocument/2006/relationships/presProps" Target="/ppt/presProps.xml" Id="R304ed73fa58b4dcc" /><Relationship Type="http://schemas.openxmlformats.org/officeDocument/2006/relationships/tableStyles" Target="/ppt/tableStyles.xml" Id="Rbe5cd33c2e454772" /><Relationship Type="http://schemas.openxmlformats.org/officeDocument/2006/relationships/slide" Target="/ppt/slides/slide1.xml" Id="Rf3285ec5c467416d" /><Relationship Type="http://schemas.openxmlformats.org/officeDocument/2006/relationships/slide" Target="/ppt/slides/slide2.xml" Id="R898f67b4f16d4e87" /><Relationship Type="http://schemas.openxmlformats.org/officeDocument/2006/relationships/slide" Target="/ppt/slides/slide3.xml" Id="Ra4dfc00719be4d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26785141564b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0" dist="98066" dir="3656724">
              <a:srgbClr val="2A211C">
                <a:alpha val="18000"/>
              </a:srgbClr>
            </a:outerShdw>
          </a:effectLst>
        </a:effectStyle>
        <a:effectStyle>
          <a:effectLst>
            <a:outerShdw blurRad="114300" dist="63896" dir="3806097">
              <a:srgbClr val="2A211C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9a39d752e24615" /><Relationship Type="http://schemas.openxmlformats.org/officeDocument/2006/relationships/notesMaster" Target="/ppt/notesMasters/notesMaster1.xml" Id="R20f7f15a556c45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e1e070b104468f" /><Relationship Type="http://schemas.openxmlformats.org/officeDocument/2006/relationships/notesMaster" Target="/ppt/notesMasters/notesMaster1.xml" Id="R625095e516ff46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ab60f925814c9c" /><Relationship Type="http://schemas.openxmlformats.org/officeDocument/2006/relationships/notesMaster" Target="/ppt/notesMasters/notesMaster1.xml" Id="R7d43d79e0adc40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1384498c64b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f3c3afbb8e47e6" /><Relationship Type="http://schemas.openxmlformats.org/officeDocument/2006/relationships/slideLayout" Target="/ppt/slideLayouts/slideLayout1.xml" Id="R4316ea52b0cd49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16ea52b0cd49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0" dist="98066" dir="3656724">
              <a:srgbClr val="2A211C">
                <a:alpha val="18000"/>
              </a:srgbClr>
            </a:outerShdw>
          </a:effectLst>
        </a:effectStyle>
        <a:effectStyle>
          <a:effectLst>
            <a:outerShdw blurRad="114300" dist="63896" dir="3806097">
              <a:srgbClr val="2A211C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908b782b34560" /><Relationship Type="http://schemas.openxmlformats.org/officeDocument/2006/relationships/image" Target="/ppt/media/image.png" Id="Rf9d3c238e933440c" /><Relationship Type="http://schemas.openxmlformats.org/officeDocument/2006/relationships/image" Target="/ppt/media/image2.png" Id="Rc5311d2a640c4975" /><Relationship Type="http://schemas.openxmlformats.org/officeDocument/2006/relationships/image" Target="/ppt/media/image3.png" Id="Rab7571ea0eec447e" /><Relationship Type="http://schemas.openxmlformats.org/officeDocument/2006/relationships/notesSlide" Target="/ppt/notesSlides/notesSlide1.xml" Id="Rd7fdefc5f32640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458e1f76a46b8" /><Relationship Type="http://schemas.openxmlformats.org/officeDocument/2006/relationships/image" Target="/ppt/media/image4.png" Id="R1d85e09fb1134c37" /><Relationship Type="http://schemas.openxmlformats.org/officeDocument/2006/relationships/image" Target="/ppt/media/image5.png" Id="Rab2ce1caa9c94f8e" /><Relationship Type="http://schemas.openxmlformats.org/officeDocument/2006/relationships/image" Target="/ppt/media/image6.png" Id="R3c95cd3e58f842a3" /><Relationship Type="http://schemas.openxmlformats.org/officeDocument/2006/relationships/image" Target="/ppt/media/image7.png" Id="R414fd96928d74380" /><Relationship Type="http://schemas.openxmlformats.org/officeDocument/2006/relationships/image" Target="/ppt/media/image8.png" Id="Rfd7541592b854277" /><Relationship Type="http://schemas.openxmlformats.org/officeDocument/2006/relationships/notesSlide" Target="/ppt/notesSlides/notesSlide2.xml" Id="R027cc810d7634a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d764cea074c38" /><Relationship Type="http://schemas.openxmlformats.org/officeDocument/2006/relationships/image" Target="/ppt/media/image9.png" Id="R3cdbab2d5ccd4419" /><Relationship Type="http://schemas.openxmlformats.org/officeDocument/2006/relationships/notesSlide" Target="/ppt/notesSlides/notesSlide3.xml" Id="R9a468653ddbf4a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3c238e933440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F633CC7-9309-44B2-82B0-CEABC04E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ECOWORLD · AI IN CONTENT MARKETING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C5C5E9F5-25C2-4F7A-81A0-8EA157F0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28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8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AI in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8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Content Marketing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D2C490AD-F2E1-4B49-A318-6B242EBC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Build a content system that learns your brand,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your process, and your feedback.</a:t>
            </a:r>
          </a:p>
        </p:txBody>
      </p:sp>
      <p:sp>
        <p:nvSpPr>
          <p:cNvPr id="5" name="speaker-pill">
            <a:extLst xmlns:a="http://schemas.openxmlformats.org/drawingml/2006/main">
              <a:ext uri="{FF2B5EF4-FFF2-40B4-BE49-F238E27FC236}">
                <a16:creationId xmlns:a16="http://schemas.microsoft.com/office/drawing/2014/main" id="{D570893A-3AD5-4C29-AC95-EB6ECB1B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85762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eaker-name">
            <a:extLst xmlns:a="http://schemas.openxmlformats.org/drawingml/2006/main">
              <a:ext uri="{FF2B5EF4-FFF2-40B4-BE49-F238E27FC236}">
                <a16:creationId xmlns:a16="http://schemas.microsoft.com/office/drawing/2014/main" id="{90DE0897-93A6-4640-8E3D-0529EC8A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387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Ashvin Praveen  ·  Co-founder &amp; CEO, Cleve.ai</a:t>
            </a:r>
          </a:p>
        </p:txBody>
      </p:sp>
      <p:sp>
        <p:nvSpPr>
          <p:cNvPr id="7" name="portrait-frame">
            <a:extLst xmlns:a="http://schemas.openxmlformats.org/drawingml/2006/main">
              <a:ext uri="{FF2B5EF4-FFF2-40B4-BE49-F238E27FC236}">
                <a16:creationId xmlns:a16="http://schemas.microsoft.com/office/drawing/2014/main" id="{740ADE9D-FFFE-4670-B8B7-875F09A7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81050"/>
            <a:ext cx="3429000" cy="469582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11d2a640c4975"/>
          <a:srcRect xmlns:a="http://schemas.openxmlformats.org/drawingml/2006/main" l="14119" t="0" r="141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885825"/>
            <a:ext cx="3219450" cy="4486275"/>
          </a:xfrm>
          <a:prstGeom xmlns:a="http://schemas.openxmlformats.org/drawingml/2006/main" prst="roundRect">
            <a:avLst>
              <a:gd name="adj" fmla="val 7101"/>
            </a:avLst>
          </a:prstGeom>
        </p:spPr>
      </p:pic>
      <p:sp>
        <p:nvSpPr>
          <p:cNvPr id="9" name="avatar-frame">
            <a:extLst xmlns:a="http://schemas.openxmlformats.org/drawingml/2006/main">
              <a:ext uri="{FF2B5EF4-FFF2-40B4-BE49-F238E27FC236}">
                <a16:creationId xmlns:a16="http://schemas.microsoft.com/office/drawing/2014/main" id="{389B79CF-F718-4B04-B396-DBBDFBBD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62500"/>
            <a:ext cx="1257300" cy="125730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571ea0eec447e"/>
          <a:stretch xmlns:a="http://schemas.openxmlformats.org/drawingml/2006/main"/>
        </p:blipFill>
        <p:spPr>
          <a:xfrm xmlns:a="http://schemas.openxmlformats.org/drawingml/2006/main">
            <a:off x="7388065" y="4867275"/>
            <a:ext cx="730570" cy="1047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F63C7-C95C-44CF-920C-869D95F4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7435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From chatbots to content engines</a:t>
            </a:r>
          </a:p>
        </p:txBody>
      </p:sp>
    </p:spTree>
    <p:extLst>
      <p:ext uri="{BB962C8B-B14F-4D97-AF65-F5344CB8AC3E}">
        <p14:creationId xmlns:p14="http://schemas.microsoft.com/office/powerpoint/2010/main" val="5895271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5e09fb1134c3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04793BE-760A-4221-8475-C776ACEA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WHY ME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D60551-5AFB-4669-98AC-48A5CFE5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I build, teach, and test these systems in the real world.</a:t>
            </a:r>
          </a:p>
        </p:txBody>
      </p:sp>
      <p:sp>
        <p:nvSpPr>
          <p:cNvPr id="4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9FD273AF-5EA5-492C-AC14-DDCDB88D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FC3B5"/>
            </a:solidFill>
            <a:prstDash val="solid"/>
          </a:ln>
        </p:spPr>
      </p:sp>
      <p:sp>
        <p:nvSpPr>
          <p:cNvPr id="5" name="milestone-01">
            <a:extLst xmlns:a="http://schemas.openxmlformats.org/drawingml/2006/main">
              <a:ext uri="{FF2B5EF4-FFF2-40B4-BE49-F238E27FC236}">
                <a16:creationId xmlns:a16="http://schemas.microsoft.com/office/drawing/2014/main" id="{4976EDE8-8780-419A-93BF-0363DBBF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2A211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ce1caa9c94f8e"/>
          <a:stretch xmlns:a="http://schemas.openxmlformats.org/drawingml/2006/main"/>
        </p:blipFill>
        <p:spPr>
          <a:xfrm xmlns:a="http://schemas.openxmlformats.org/drawingml/2006/main">
            <a:off x="1294429" y="2990850"/>
            <a:ext cx="478192" cy="685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15F4E-8212-4211-A2DB-5883D6DC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049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70C28-E9B0-46F5-8785-06BFBE3B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Learn the craft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5EDB6-6A78-4ACC-808C-41E79817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07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Tech + media,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building in public</a:t>
            </a:r>
          </a:p>
        </p:txBody>
      </p:sp>
      <p:sp>
        <p:nvSpPr>
          <p:cNvPr id="10" name="milestone-02">
            <a:extLst xmlns:a="http://schemas.openxmlformats.org/drawingml/2006/main">
              <a:ext uri="{FF2B5EF4-FFF2-40B4-BE49-F238E27FC236}">
                <a16:creationId xmlns:a16="http://schemas.microsoft.com/office/drawing/2014/main" id="{0A8E6427-8FA5-47AF-BE6A-53F3A4A4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90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2A211C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5cd3e58f842a3"/>
          <a:stretch xmlns:a="http://schemas.openxmlformats.org/drawingml/2006/main"/>
        </p:blipFill>
        <p:spPr>
          <a:xfrm xmlns:a="http://schemas.openxmlformats.org/drawingml/2006/main">
            <a:off x="3952875" y="30575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E86E0-DCF3-44B8-9391-7E9851F9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57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2C345-C34E-4E40-AAE5-EC14C530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52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Build the 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D13F7-10E2-47C6-AE62-C332D150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43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Cleve.ai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40,000+ users · Antler-backed</a:t>
            </a:r>
          </a:p>
        </p:txBody>
      </p:sp>
      <p:sp>
        <p:nvSpPr>
          <p:cNvPr id="15" name="milestone-03">
            <a:extLst xmlns:a="http://schemas.openxmlformats.org/drawingml/2006/main">
              <a:ext uri="{FF2B5EF4-FFF2-40B4-BE49-F238E27FC236}">
                <a16:creationId xmlns:a16="http://schemas.microsoft.com/office/drawing/2014/main" id="{70256C83-852C-4270-8739-041EF605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2A211C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fd96928d74380"/>
          <a:stretch xmlns:a="http://schemas.openxmlformats.org/drawingml/2006/main"/>
        </p:blipFill>
        <p:spPr>
          <a:xfrm xmlns:a="http://schemas.openxmlformats.org/drawingml/2006/main">
            <a:off x="6572250" y="3135868"/>
            <a:ext cx="571500" cy="39576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18135-7D6E-46C2-9FCD-336E59FF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049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C2CFF-B6E0-460F-AFB8-6F8F8699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Teach at 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BE9F2-F61B-45A7-8FDB-73FADB26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907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National AI Competition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Nearly 2,000 students</a:t>
            </a:r>
          </a:p>
        </p:txBody>
      </p:sp>
      <p:sp>
        <p:nvSpPr>
          <p:cNvPr id="20" name="milestone-04">
            <a:extLst xmlns:a="http://schemas.openxmlformats.org/drawingml/2006/main">
              <a:ext uri="{FF2B5EF4-FFF2-40B4-BE49-F238E27FC236}">
                <a16:creationId xmlns:a16="http://schemas.microsoft.com/office/drawing/2014/main" id="{0465BD5C-7100-41EF-BFBD-9A5043E0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2A211C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541592b854277"/>
          <a:stretch xmlns:a="http://schemas.openxmlformats.org/drawingml/2006/main"/>
        </p:blipFill>
        <p:spPr>
          <a:xfrm xmlns:a="http://schemas.openxmlformats.org/drawingml/2006/main">
            <a:off x="9210675" y="30575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E2A2C-08AA-4531-9DCF-688FC72B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D0E0B-BCA1-4602-AE64-9678C1C2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52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Grow the ecosystem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E4DFD-DBFD-479C-976F-DFD3B389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43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Malaysian.ai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Community for AI builders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795F7-D31C-41BB-9A4A-405ACDFE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48325"/>
            <a:ext cx="671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The common thread: turning lived context into useful systems.</a:t>
            </a:r>
          </a:p>
        </p:txBody>
      </p:sp>
      <p:sp>
        <p:nvSpPr>
          <p:cNvPr id="26" name="footer-2">
            <a:extLst xmlns:a="http://schemas.openxmlformats.org/drawingml/2006/main">
              <a:ext uri="{FF2B5EF4-FFF2-40B4-BE49-F238E27FC236}">
                <a16:creationId xmlns:a16="http://schemas.microsoft.com/office/drawing/2014/main" id="{9DA553C6-23AF-40B9-ACFC-90900BE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ASHVIN PRAVEEN  ·  INTRODUCTION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4792FB-3DCA-4207-B037-E8196AE9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24026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bab2d5ccd441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E575C56-ADDF-4CFE-A674-5834A690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THE SHIFT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9AC00A-20C5-400E-885F-E4077385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A chatbot answers. A content engine improves.</a:t>
            </a:r>
          </a:p>
        </p:txBody>
      </p:sp>
      <p:sp>
        <p:nvSpPr>
          <p:cNvPr id="4" name="chatbot-field">
            <a:extLst xmlns:a="http://schemas.openxmlformats.org/drawingml/2006/main">
              <a:ext uri="{FF2B5EF4-FFF2-40B4-BE49-F238E27FC236}">
                <a16:creationId xmlns:a16="http://schemas.microsoft.com/office/drawing/2014/main" id="{8BBBA8C9-330F-4D17-A732-6BD6015D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905250" cy="39338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AE0D3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065E4-5BAF-45B0-87A6-B69AB04B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CHATBOT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A2245-AACD-4154-893D-E336F1DA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Starts from zero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every time.</a:t>
            </a:r>
          </a:p>
        </p:txBody>
      </p:sp>
      <p:sp>
        <p:nvSpPr>
          <p:cNvPr id="7" name="one-off-prompt">
            <a:extLst xmlns:a="http://schemas.openxmlformats.org/drawingml/2006/main">
              <a:ext uri="{FF2B5EF4-FFF2-40B4-BE49-F238E27FC236}">
                <a16:creationId xmlns:a16="http://schemas.microsoft.com/office/drawing/2014/main" id="{AFF7B030-A524-46C6-98CE-883D5D9A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2667000" cy="590550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C5772-AF26-47E8-86FD-5D3D9BC9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57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“Write me a social post.”</a:t>
            </a:r>
          </a:p>
        </p:txBody>
      </p:sp>
      <p:sp>
        <p:nvSpPr>
          <p:cNvPr id="9" name="generic-draft">
            <a:extLst xmlns:a="http://schemas.openxmlformats.org/drawingml/2006/main">
              <a:ext uri="{FF2B5EF4-FFF2-40B4-BE49-F238E27FC236}">
                <a16:creationId xmlns:a16="http://schemas.microsoft.com/office/drawing/2014/main" id="{D8856CB9-8D0B-4411-A60C-5AEDE842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810125"/>
            <a:ext cx="2133600" cy="523875"/>
          </a:xfrm>
          <a:prstGeom xmlns:a="http://schemas.openxmlformats.org/drawingml/2006/main" prst="roundRect">
            <a:avLst>
              <a:gd name="adj" fmla="val 32727"/>
            </a:avLst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7B200-9E0A-4655-8A22-96EEEFA1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9720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Generic draft</a:t>
            </a:r>
          </a:p>
        </p:txBody>
      </p:sp>
      <p:cxnSp>
        <p:nvCxnSpPr>
          <p:cNvPr id="44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333625" y="4257675"/>
            <a:ext cx="4572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695F"/>
            </a:solidFill>
            <a:prstDash val="solid"/>
            <a:head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98662-2118-4114-A583-820001BC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Then the context disappears.</a:t>
            </a:r>
          </a:p>
        </p:txBody>
      </p:sp>
      <p:sp>
        <p:nvSpPr>
          <p:cNvPr id="13" name="engine-field">
            <a:extLst xmlns:a="http://schemas.openxmlformats.org/drawingml/2006/main">
              <a:ext uri="{FF2B5EF4-FFF2-40B4-BE49-F238E27FC236}">
                <a16:creationId xmlns:a16="http://schemas.microsoft.com/office/drawing/2014/main" id="{03B87995-685F-4449-8B89-5DC2F9AF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71675"/>
            <a:ext cx="6591300" cy="39338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C6E99-78F6-49A3-9128-E97E0B37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38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CONTENT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F0999-533C-4445-885A-D0ED360C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Carries your context forward.</a:t>
            </a:r>
          </a:p>
        </p:txBody>
      </p:sp>
      <p:sp>
        <p:nvSpPr>
          <p:cNvPr id="16" name="engine-context">
            <a:extLst xmlns:a="http://schemas.openxmlformats.org/drawingml/2006/main">
              <a:ext uri="{FF2B5EF4-FFF2-40B4-BE49-F238E27FC236}">
                <a16:creationId xmlns:a16="http://schemas.microsoft.com/office/drawing/2014/main" id="{AD301FDB-0218-4814-A558-74D9DCA2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24250"/>
            <a:ext cx="13525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AE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C6E41-E8C8-46A4-BCBD-6F1E83FF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95700"/>
            <a:ext cx="933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Context</a:t>
            </a:r>
          </a:p>
        </p:txBody>
      </p:sp>
      <p:sp>
        <p:nvSpPr>
          <p:cNvPr id="18" name="engine-memory">
            <a:extLst xmlns:a="http://schemas.openxmlformats.org/drawingml/2006/main">
              <a:ext uri="{FF2B5EF4-FFF2-40B4-BE49-F238E27FC236}">
                <a16:creationId xmlns:a16="http://schemas.microsoft.com/office/drawing/2014/main" id="{D8406306-FF28-4B88-A912-492642AA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00400"/>
            <a:ext cx="13525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AE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817AF-3130-4617-9527-BAF435C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933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Memory</a:t>
            </a:r>
          </a:p>
        </p:txBody>
      </p:sp>
      <p:sp>
        <p:nvSpPr>
          <p:cNvPr id="20" name="engine-feedback">
            <a:extLst xmlns:a="http://schemas.openxmlformats.org/drawingml/2006/main">
              <a:ext uri="{FF2B5EF4-FFF2-40B4-BE49-F238E27FC236}">
                <a16:creationId xmlns:a16="http://schemas.microsoft.com/office/drawing/2014/main" id="{A44F5BDB-D995-48CB-9592-EC8BFAF4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13525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AE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D6FA0-8926-4183-9D38-CEB2FDEE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933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Feedback</a:t>
            </a:r>
          </a:p>
        </p:txBody>
      </p:sp>
      <p:sp>
        <p:nvSpPr>
          <p:cNvPr id="22" name="engine-workflow">
            <a:extLst xmlns:a="http://schemas.openxmlformats.org/drawingml/2006/main">
              <a:ext uri="{FF2B5EF4-FFF2-40B4-BE49-F238E27FC236}">
                <a16:creationId xmlns:a16="http://schemas.microsoft.com/office/drawing/2014/main" id="{37842F20-F3FF-40A4-B17A-E944C712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0"/>
            <a:ext cx="13525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AE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1A98B-C093-47CC-A18C-FED992D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95700"/>
            <a:ext cx="933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Workflow</a:t>
            </a:r>
          </a:p>
        </p:txBody>
      </p:sp>
      <p:sp>
        <p:nvSpPr>
          <p:cNvPr id="24" name="engine-output">
            <a:extLst xmlns:a="http://schemas.openxmlformats.org/drawingml/2006/main">
              <a:ext uri="{FF2B5EF4-FFF2-40B4-BE49-F238E27FC236}">
                <a16:creationId xmlns:a16="http://schemas.microsoft.com/office/drawing/2014/main" id="{84640CC8-8BED-4696-BA62-0138891F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2076450" cy="619125"/>
          </a:xfrm>
          <a:prstGeom xmlns:a="http://schemas.openxmlformats.org/drawingml/2006/main" prst="roundRect">
            <a:avLst>
              <a:gd name="adj" fmla="val 33846"/>
            </a:avLst>
          </a:prstGeom>
          <a:solidFill xmlns:a="http://schemas.openxmlformats.org/drawingml/2006/main">
            <a:srgbClr val="F0E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A3C99-701E-4DDF-A566-A5A74D1A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14900"/>
            <a:ext cx="1581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On-brand content,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faster</a:t>
            </a:r>
          </a:p>
        </p:txBody>
      </p:sp>
      <p:cxnSp>
        <p:nvCxnSpPr>
          <p:cNvPr id="59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6667500" y="3467100"/>
            <a:ext cx="4572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D1C0"/>
            </a:solidFill>
            <a:prstDash val="solid"/>
            <a:headEnd type="arrow" w="sm" len="sm"/>
          </a:ln>
        </p:spPr>
      </p:cxnSp>
      <p:cxnSp>
        <p:nvCxnSpPr>
          <p:cNvPr id="60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477250" y="3467100"/>
            <a:ext cx="4572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D1C0"/>
            </a:solidFill>
            <a:prstDash val="solid"/>
            <a:headEnd type="arrow" w="sm" len="sm"/>
          </a:ln>
        </p:spPr>
      </p:cxnSp>
      <p:cxnSp>
        <p:nvCxnSpPr>
          <p:cNvPr id="61" name=""/>
          <p:cNvCxnSpPr>
            <a:stCxn xmlns:a="http://schemas.openxmlformats.org/drawingml/2006/main" id="22" idx="2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8477250" y="4057650"/>
            <a:ext cx="1133475" cy="5334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DED1C0"/>
            </a:solidFill>
            <a:prstDash val="solid"/>
            <a:headEnd type="arrow" w="sm" len="sm"/>
          </a:ln>
        </p:spPr>
      </p:cxnSp>
      <p:cxnSp>
        <p:nvCxnSpPr>
          <p:cNvPr id="62" name=""/>
          <p:cNvCxnSpPr>
            <a:stCxn xmlns:a="http://schemas.openxmlformats.org/drawingml/2006/main" id="20" idx="1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H="1" flipV="1">
            <a:off x="5991225" y="4057650"/>
            <a:ext cx="1133475" cy="5334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DED1C0"/>
            </a:solidFill>
            <a:prstDash val="solid"/>
            <a:headEnd type="arrow" w="sm" len="sm"/>
          </a:ln>
        </p:spPr>
      </p:cxnSp>
      <p:cxnSp>
        <p:nvCxnSpPr>
          <p:cNvPr id="63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610725" y="4057650"/>
            <a:ext cx="36195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D1C0"/>
            </a:solidFill>
            <a:prstDash val="solid"/>
            <a:head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4CE340-13B4-4E9D-A617-B0CEDE74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340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Each round leaves the system smarter.</a:t>
            </a:r>
          </a:p>
        </p:txBody>
      </p:sp>
      <p:sp>
        <p:nvSpPr>
          <p:cNvPr id="32" name="footer-3">
            <a:extLst xmlns:a="http://schemas.openxmlformats.org/drawingml/2006/main">
              <a:ext uri="{FF2B5EF4-FFF2-40B4-BE49-F238E27FC236}">
                <a16:creationId xmlns:a16="http://schemas.microsoft.com/office/drawing/2014/main" id="{DBEEB38C-CB5B-4505-81DC-0C0526A5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ASHVIN PRAVEEN  ·  INTRODUCTION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041CDA-1BD4-46A0-B4E2-6C410A13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8008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0" dist="98066" dir="3656724">
              <a:srgbClr val="2A211C">
                <a:alpha val="18000"/>
              </a:srgbClr>
            </a:outerShdw>
          </a:effectLst>
        </a:effectStyle>
        <a:effectStyle>
          <a:effectLst>
            <a:outerShdw blurRad="114300" dist="63896" dir="3806097">
              <a:srgbClr val="2A211C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2026-07-24T02:11:36.6040000Z</dcterms:created>
  <dcterms:modified xsi:type="dcterms:W3CDTF">2026-07-24T02:11:36.6040000Z</dcterms:modified>
</coreProperties>
</file>